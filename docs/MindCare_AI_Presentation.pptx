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6366F1"/>
                </a:solidFill>
                <a:latin typeface="Calibri"/>
              </a:defRPr>
            </a:pPr>
            <a:r>
              <a:t>🧠 MindCare AI</a:t>
            </a:r>
          </a:p>
          <a:p>
            <a:pPr>
              <a:spcBef>
                <a:spcPts val="1000"/>
              </a:spcBef>
              <a:defRPr sz="2800" b="1">
                <a:solidFill>
                  <a:srgbClr val="F8FAFC"/>
                </a:solidFill>
                <a:latin typeface="Calibri"/>
              </a:defRPr>
            </a:pPr>
            <a:r>
              <a:t>AI-Powered Mental Health Companion</a:t>
            </a:r>
          </a:p>
          <a:p>
            <a:pPr>
              <a:spcBef>
                <a:spcPts val="1500"/>
              </a:spcBef>
              <a:defRPr sz="1600">
                <a:solidFill>
                  <a:srgbClr val="94A3B8"/>
                </a:solidFill>
                <a:latin typeface="Calibri"/>
              </a:defRPr>
            </a:pPr>
            <a:r>
              <a:t>An Intent-Aware, Context-Grounded Architecture using LLMs, RAG &amp; Safety Protocols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66928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0B981"/>
                </a:solidFill>
              </a:defRPr>
            </a:pPr>
            <a:r>
              <a:t>Presentation Deck • Mental Health Companion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Calibri"/>
              </a:defRPr>
            </a:pPr>
            <a:r>
              <a:t>SLIDE 2 /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Problem Statement &amp; Project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defRPr sz="2000" b="1">
                <a:solidFill>
                  <a:srgbClr val="F87171"/>
                </a:solidFill>
              </a:defRPr>
            </a:pPr>
            <a:r>
              <a:t>⚠️ The Problem</a:t>
            </a:r>
          </a:p>
          <a:p>
            <a:pPr>
              <a:spcBef>
                <a:spcPts val="1400"/>
              </a:spcBef>
            </a:pPr>
            <a:r>
              <a:rPr b="1" sz="1400">
                <a:solidFill>
                  <a:srgbClr val="F8FAFC"/>
                </a:solidFill>
              </a:rPr>
              <a:t>• AI Hallucinations: </a:t>
            </a:r>
            <a:r>
              <a:rPr sz="1400">
                <a:solidFill>
                  <a:srgbClr val="94A3B8"/>
                </a:solidFill>
              </a:rPr>
              <a:t>Generic chatbots can give unverified or inaccurate psychological advice.</a:t>
            </a:r>
          </a:p>
          <a:p>
            <a:pPr>
              <a:spcBef>
                <a:spcPts val="1400"/>
              </a:spcBef>
            </a:pPr>
            <a:r>
              <a:rPr b="1" sz="1400">
                <a:solidFill>
                  <a:srgbClr val="F8FAFC"/>
                </a:solidFill>
              </a:rPr>
              <a:t>• Lack of Crisis Protocols: </a:t>
            </a:r>
            <a:r>
              <a:rPr sz="1400">
                <a:solidFill>
                  <a:srgbClr val="94A3B8"/>
                </a:solidFill>
              </a:rPr>
              <a:t>Standard LLMs miss critical safety signals during emotional distress.</a:t>
            </a:r>
          </a:p>
          <a:p>
            <a:pPr>
              <a:spcBef>
                <a:spcPts val="1400"/>
              </a:spcBef>
            </a:pPr>
            <a:r>
              <a:rPr b="1" sz="1400">
                <a:solidFill>
                  <a:srgbClr val="F8FAFC"/>
                </a:solidFill>
              </a:rPr>
              <a:t>• Fragmented Tools: </a:t>
            </a:r>
            <a:r>
              <a:rPr sz="1400">
                <a:solidFill>
                  <a:srgbClr val="94A3B8"/>
                </a:solidFill>
              </a:rPr>
              <a:t>Users lack a single platform combining chat, mood tracking, and grounding exercises.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🎯 Project Objectives</a:t>
            </a:r>
          </a:p>
          <a:p>
            <a:pPr>
              <a:spcBef>
                <a:spcPts val="1200"/>
              </a:spcBef>
            </a:pPr>
            <a:r>
              <a:rPr b="1" sz="1400">
                <a:solidFill>
                  <a:srgbClr val="F8FAFC"/>
                </a:solidFill>
              </a:rPr>
              <a:t>• Grounded Knowledge (RAG): </a:t>
            </a:r>
            <a:r>
              <a:rPr sz="1400">
                <a:solidFill>
                  <a:srgbClr val="94A3B8"/>
                </a:solidFill>
              </a:rPr>
              <a:t>Provide verified responses from structured mental health knowledge bases.</a:t>
            </a:r>
          </a:p>
          <a:p>
            <a:pPr>
              <a:spcBef>
                <a:spcPts val="1200"/>
              </a:spcBef>
            </a:pPr>
            <a:r>
              <a:rPr b="1" sz="1400">
                <a:solidFill>
                  <a:srgbClr val="F8FAFC"/>
                </a:solidFill>
              </a:rPr>
              <a:t>• Intent Detection: </a:t>
            </a:r>
            <a:r>
              <a:rPr sz="1400">
                <a:solidFill>
                  <a:srgbClr val="94A3B8"/>
                </a:solidFill>
              </a:rPr>
              <a:t>Adapt responses dynamically (Empathetic venting vs. Structured info).</a:t>
            </a:r>
          </a:p>
          <a:p>
            <a:pPr>
              <a:spcBef>
                <a:spcPts val="1200"/>
              </a:spcBef>
            </a:pPr>
            <a:r>
              <a:rPr b="1" sz="1400">
                <a:solidFill>
                  <a:srgbClr val="F8FAFC"/>
                </a:solidFill>
              </a:rPr>
              <a:t>• Safety Interception: </a:t>
            </a:r>
            <a:r>
              <a:rPr sz="1400">
                <a:solidFill>
                  <a:srgbClr val="94A3B8"/>
                </a:solidFill>
              </a:rPr>
              <a:t>Detect self-harm triggers instantly and route to official crisis hotlines.</a:t>
            </a:r>
          </a:p>
          <a:p>
            <a:pPr>
              <a:spcBef>
                <a:spcPts val="1200"/>
              </a:spcBef>
            </a:pPr>
            <a:r>
              <a:rPr b="1" sz="1400">
                <a:solidFill>
                  <a:srgbClr val="F8FAFC"/>
                </a:solidFill>
              </a:rPr>
              <a:t>• Integrated Self-Care: </a:t>
            </a:r>
            <a:r>
              <a:rPr sz="1400">
                <a:solidFill>
                  <a:srgbClr val="94A3B8"/>
                </a:solidFill>
              </a:rPr>
              <a:t>Offer mood analytics, reflection journals, and guided 4-7-8 breathing exercises.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Calibri"/>
              </a:defRPr>
            </a:pPr>
            <a:r>
              <a:t>SLIDE 3 /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System Architecture &amp; End-to-End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011680" cy="38404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defRPr sz="1600" b="1">
                <a:solidFill>
                  <a:srgbClr val="6366F1"/>
                </a:solidFill>
              </a:defRPr>
            </a:pPr>
            <a:r>
              <a:t>1. Input Layer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User interacts via Streamlit UI or REST API endpoint.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2011680"/>
            <a:ext cx="2011680" cy="38404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defRPr sz="1600" b="1">
                <a:solidFill>
                  <a:srgbClr val="EF4444"/>
                </a:solidFill>
              </a:defRPr>
            </a:pPr>
            <a:r>
              <a:t>2. Safety Checker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Evaluates message for high-risk self-harm or crisis keywords.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2011680"/>
            <a:ext cx="2011680" cy="38404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3. Intent Engine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Classifies intent: Emotional Venting vs. Information Request.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2011680"/>
            <a:ext cx="2011680" cy="38404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defRPr sz="1600" b="1">
                <a:solidFill>
                  <a:srgbClr val="6366F1"/>
                </a:solidFill>
              </a:defRPr>
            </a:pPr>
            <a:r>
              <a:t>4. Dynamic RAG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Retrieves context from FAISS / TF-IDF only if information requested.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0" y="2011680"/>
            <a:ext cx="2011680" cy="38404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5. Structured Output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Pydantic validates JSON response with topic, activity &amp; sources.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Calibri"/>
              </a:defRPr>
            </a:pPr>
            <a:r>
              <a:t>SLIDE 4 /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Core Features &amp; Interactive Capabilities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600" b="1">
                <a:solidFill>
                  <a:srgbClr val="6366F1"/>
                </a:solidFill>
              </a:defRPr>
            </a:pPr>
            <a:r>
              <a:t>💬 AI Conversational Companion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Context-aware empathetic dialogue with memory of prior user interactions.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645920"/>
            <a:ext cx="33832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600" b="1">
                <a:solidFill>
                  <a:srgbClr val="6366F1"/>
                </a:solidFill>
              </a:defRPr>
            </a:pPr>
            <a:r>
              <a:t>📊 Mood Tracker &amp; Analytics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Log daily mood, stress level (1-10), and sleep hours with visual trend graphs.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645920"/>
            <a:ext cx="33832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600" b="1">
                <a:solidFill>
                  <a:srgbClr val="6366F1"/>
                </a:solidFill>
              </a:defRPr>
            </a:pPr>
            <a:r>
              <a:t>📝 Reflection Journaling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Private space for daily personal journal entries tagged with emotional state.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33832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600" b="1">
                <a:solidFill>
                  <a:srgbClr val="6366F1"/>
                </a:solidFill>
              </a:defRPr>
            </a:pPr>
            <a:r>
              <a:t>🧘 Interactive Exercises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Visual 4-7-8 Breathing animation &amp; 5-4-3-2-1 Sensory Grounding for panic reduction.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3931920"/>
            <a:ext cx="33832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600" b="1">
                <a:solidFill>
                  <a:srgbClr val="6366F1"/>
                </a:solidFill>
              </a:defRPr>
            </a:pPr>
            <a:r>
              <a:t>🔐 Auth &amp; History Database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FastAPI backend with SQLite database, encrypted passwords, and chat history retention.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3931920"/>
            <a:ext cx="33832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600" b="1">
                <a:solidFill>
                  <a:srgbClr val="6366F1"/>
                </a:solidFill>
              </a:defRPr>
            </a:pPr>
            <a:r>
              <a:t>🚨 Emergency Crisis Routing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Instant emergency hotline card display upon detecting severe emotional distress.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Calibri"/>
              </a:defRPr>
            </a:pPr>
            <a:r>
              <a:t>SLIDE 5 /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Retrieval-Augmented Generation (RAG)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2000" b="1">
                <a:solidFill>
                  <a:srgbClr val="6366F1"/>
                </a:solidFill>
              </a:defRPr>
            </a:pPr>
            <a:r>
              <a:t>📚 Curated Knowledge Base</a:t>
            </a:r>
          </a:p>
          <a:p>
            <a:pPr>
              <a:spcBef>
                <a:spcPts val="1000"/>
              </a:spcBef>
              <a:defRPr sz="1400">
                <a:solidFill>
                  <a:srgbClr val="F8FAFC"/>
                </a:solidFill>
              </a:defRPr>
            </a:pPr>
            <a:r>
              <a:t>• stress_management.md — Breathing &amp; stress coping</a:t>
            </a:r>
          </a:p>
          <a:p>
            <a:pPr>
              <a:spcBef>
                <a:spcPts val="1000"/>
              </a:spcBef>
              <a:defRPr sz="1400">
                <a:solidFill>
                  <a:srgbClr val="F8FAFC"/>
                </a:solidFill>
              </a:defRPr>
            </a:pPr>
            <a:r>
              <a:t>• anxiety_and_coping.md — CBT techniques for panic</a:t>
            </a:r>
          </a:p>
          <a:p>
            <a:pPr>
              <a:spcBef>
                <a:spcPts val="1000"/>
              </a:spcBef>
              <a:defRPr sz="1400">
                <a:solidFill>
                  <a:srgbClr val="F8FAFC"/>
                </a:solidFill>
              </a:defRPr>
            </a:pPr>
            <a:r>
              <a:t>• sleep_hygiene.md — Sleep schedule &amp; wind-down</a:t>
            </a:r>
          </a:p>
          <a:p>
            <a:pPr>
              <a:spcBef>
                <a:spcPts val="1000"/>
              </a:spcBef>
              <a:defRPr sz="1400">
                <a:solidFill>
                  <a:srgbClr val="F8FAFC"/>
                </a:solidFill>
              </a:defRPr>
            </a:pPr>
            <a:r>
              <a:t>• mindfulness_and_wellness.md — Meditation exercises</a:t>
            </a:r>
          </a:p>
          <a:p>
            <a:pPr>
              <a:spcBef>
                <a:spcPts val="1000"/>
              </a:spcBef>
              <a:defRPr sz="1400">
                <a:solidFill>
                  <a:srgbClr val="F8FAFC"/>
                </a:solidFill>
              </a:defRPr>
            </a:pPr>
            <a:r>
              <a:t>• emergency_and_resources.md — Crisis contacts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⚙️ RAG Pipeline Details</a:t>
            </a:r>
          </a:p>
          <a:p>
            <a:pPr>
              <a:spcBef>
                <a:spcPts val="1200"/>
              </a:spcBef>
            </a:pPr>
            <a:r>
              <a:rPr b="1" sz="1400">
                <a:solidFill>
                  <a:srgbClr val="F8FAFC"/>
                </a:solidFill>
              </a:rPr>
              <a:t>• Chunking: </a:t>
            </a:r>
            <a:r>
              <a:rPr sz="1400">
                <a:solidFill>
                  <a:srgbClr val="94A3B8"/>
                </a:solidFill>
              </a:rPr>
              <a:t>Recursive text splitting into semantic chunks.</a:t>
            </a:r>
          </a:p>
          <a:p>
            <a:pPr>
              <a:spcBef>
                <a:spcPts val="1200"/>
              </a:spcBef>
            </a:pPr>
            <a:r>
              <a:rPr b="1" sz="1400">
                <a:solidFill>
                  <a:srgbClr val="F8FAFC"/>
                </a:solidFill>
              </a:rPr>
              <a:t>• Embeddings: </a:t>
            </a:r>
            <a:r>
              <a:rPr sz="1400">
                <a:solidFill>
                  <a:srgbClr val="94A3B8"/>
                </a:solidFill>
              </a:rPr>
              <a:t>SentenceTransformers (`all-MiniLM-L6-v2`).</a:t>
            </a:r>
          </a:p>
          <a:p>
            <a:pPr>
              <a:spcBef>
                <a:spcPts val="1200"/>
              </a:spcBef>
            </a:pPr>
            <a:r>
              <a:rPr b="1" sz="1400">
                <a:solidFill>
                  <a:srgbClr val="F8FAFC"/>
                </a:solidFill>
              </a:rPr>
              <a:t>• Vector Index: </a:t>
            </a:r>
            <a:r>
              <a:rPr sz="1400">
                <a:solidFill>
                  <a:srgbClr val="94A3B8"/>
                </a:solidFill>
              </a:rPr>
              <a:t>FAISS Vector Store + Scikit-Learn TF-IDF engine.</a:t>
            </a:r>
          </a:p>
          <a:p>
            <a:pPr>
              <a:spcBef>
                <a:spcPts val="1200"/>
              </a:spcBef>
            </a:pPr>
            <a:r>
              <a:rPr b="1" sz="1400">
                <a:solidFill>
                  <a:srgbClr val="F8FAFC"/>
                </a:solidFill>
              </a:rPr>
              <a:t>• Citation Guarantee: </a:t>
            </a:r>
            <a:r>
              <a:rPr sz="1400">
                <a:solidFill>
                  <a:srgbClr val="94A3B8"/>
                </a:solidFill>
              </a:rPr>
              <a:t>Responses cite exact source files with 0% hallucination.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Calibri"/>
              </a:defRPr>
            </a:pPr>
            <a:r>
              <a:t>SLIDE 6 /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Safety Layer &amp; Crisis Intervention Protocols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defRPr sz="2200" b="1">
                <a:solidFill>
                  <a:srgbClr val="F87171"/>
                </a:solidFill>
              </a:defRPr>
            </a:pPr>
            <a:r>
              <a:t>🚨 Multi-Tiered Crisis Safety Design</a:t>
            </a:r>
          </a:p>
          <a:p>
            <a:pPr>
              <a:spcBef>
                <a:spcPts val="1400"/>
              </a:spcBef>
            </a:pPr>
            <a:r>
              <a:rPr b="1" sz="1500">
                <a:solidFill>
                  <a:srgbClr val="F8FAFC"/>
                </a:solidFill>
              </a:rPr>
              <a:t>1. Keyword Interception: </a:t>
            </a:r>
            <a:r>
              <a:rPr sz="1500">
                <a:solidFill>
                  <a:srgbClr val="94A3B8"/>
                </a:solidFill>
              </a:rPr>
              <a:t>Scans input text for self-harm, suicidal ideation, or severe distress triggers in real-time.</a:t>
            </a:r>
          </a:p>
          <a:p>
            <a:pPr>
              <a:spcBef>
                <a:spcPts val="1400"/>
              </a:spcBef>
            </a:pPr>
            <a:r>
              <a:rPr b="1" sz="1500">
                <a:solidFill>
                  <a:srgbClr val="F8FAFC"/>
                </a:solidFill>
              </a:rPr>
              <a:t>2. Immediate Bypass: </a:t>
            </a:r>
            <a:r>
              <a:rPr sz="1500">
                <a:solidFill>
                  <a:srgbClr val="94A3B8"/>
                </a:solidFill>
              </a:rPr>
              <a:t>Halts normal LLM generation when risk is flagged to avoid inappropriate or automated generic text.</a:t>
            </a:r>
          </a:p>
          <a:p>
            <a:pPr>
              <a:spcBef>
                <a:spcPts val="1400"/>
              </a:spcBef>
            </a:pPr>
            <a:r>
              <a:rPr b="1" sz="1500">
                <a:solidFill>
                  <a:srgbClr val="F8FAFC"/>
                </a:solidFill>
              </a:rPr>
              <a:t>3. Emergency Contact Routing: </a:t>
            </a:r>
            <a:r>
              <a:rPr sz="1500">
                <a:solidFill>
                  <a:srgbClr val="94A3B8"/>
                </a:solidFill>
              </a:rPr>
              <a:t>Instantly outputs verified crisis helplines (Egypt Secretariat of Mental Health: 08008880700 / 16328, International Befrienders).</a:t>
            </a:r>
          </a:p>
          <a:p>
            <a:pPr>
              <a:spcBef>
                <a:spcPts val="1400"/>
              </a:spcBef>
            </a:pPr>
            <a:r>
              <a:rPr b="1" sz="1500">
                <a:solidFill>
                  <a:srgbClr val="F8FAFC"/>
                </a:solidFill>
              </a:rPr>
              <a:t>4. Ethical Disclaimer: </a:t>
            </a:r>
            <a:r>
              <a:rPr sz="1500">
                <a:solidFill>
                  <a:srgbClr val="94A3B8"/>
                </a:solidFill>
              </a:rPr>
              <a:t>States clear boundary that MindCare AI is an educational tool and encourages contacting licensed professionals.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Calibri"/>
              </a:defRPr>
            </a:pPr>
            <a:r>
              <a:t>SLIDE 7 /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Technologies &amp; Libraries Stack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69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840480"/>
                <a:gridCol w="4572000"/>
              </a:tblGrid>
              <a:tr h="5715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AFC"/>
                          </a:solidFill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AFC"/>
                          </a:solidFill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AFC"/>
                          </a:solidFill>
                        </a:defRPr>
                      </a:pPr>
                      <a:r>
                        <a:t>Role &amp; Function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Language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Python 3.10+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</a:defRPr>
                      </a:pPr>
                      <a:r>
                        <a:t>Core programming language for backend &amp; AI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AI Framework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LangChain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</a:defRPr>
                      </a:pPr>
                      <a:r>
                        <a:t>LLM prompt chains, memory, and RAG pipeline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Vector Search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SentenceTransformers &amp; FAISS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</a:defRPr>
                      </a:pPr>
                      <a:r>
                        <a:t>Semantic embeddings and fast vector retrieval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Structured Output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Pydantic v2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</a:defRPr>
                      </a:pPr>
                      <a:r>
                        <a:t>Strict JSON schema parsing and response validation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Backend &amp; DB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FastAPI + SQLite + bcrypt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</a:defRPr>
                      </a:pPr>
                      <a:r>
                        <a:t>REST API endpoints, user auth, and chat database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Frontend UI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Streamlit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</a:defRPr>
                      </a:pPr>
                      <a:r>
                        <a:t>Modern glassmorphism user interface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Deployment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PyNgrok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</a:defRPr>
                      </a:pPr>
                      <a:r>
                        <a:t>Public URL tunneling for live demonstrations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Calibri"/>
              </a:defRPr>
            </a:pPr>
            <a:r>
              <a:t>SLIDE 8 /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Future Roadmap &amp; Project Conclusion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2000" b="1">
                <a:solidFill>
                  <a:srgbClr val="6366F1"/>
                </a:solidFill>
              </a:defRPr>
            </a:pPr>
            <a:r>
              <a:t>🚀 Future Roadmap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1. Voice Support (Speech-to-Text &amp; Text-to-Speech)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2. Local Dialect Adaptation (Egyptian &amp; Regional Arabic)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3. Wearable Integration (Smartwatch sleep/heart-rate sync)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4. Therapist Summary Dashboard (Exportable reports)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✨ Project Conclusion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MindCare AI demonstrates how Intent-Aware RAG architectures can bridge the gap between conversational empathy and medical safety standards.</a:t>
            </a:r>
            <a:br/>
            <a:br/>
            <a:r>
              <a:t>By combining verified knowledge bases, real-time safety guardrails, and integrated self-care tools, MindCare AI delivers a reliable, user-centric mental health companion.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